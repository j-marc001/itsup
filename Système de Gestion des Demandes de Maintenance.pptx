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7"/>
  </p:notesMasterIdLst>
  <p:handoutMasterIdLst>
    <p:handoutMasterId r:id="rId18"/>
  </p:handoutMasterIdLst>
  <p:sldIdLst>
    <p:sldId id="410" r:id="rId5"/>
    <p:sldId id="383" r:id="rId6"/>
    <p:sldId id="406" r:id="rId7"/>
    <p:sldId id="389" r:id="rId8"/>
    <p:sldId id="391" r:id="rId9"/>
    <p:sldId id="409" r:id="rId10"/>
    <p:sldId id="408" r:id="rId11"/>
    <p:sldId id="411" r:id="rId12"/>
    <p:sldId id="412" r:id="rId13"/>
    <p:sldId id="404" r:id="rId14"/>
    <p:sldId id="407" r:id="rId15"/>
    <p:sldId id="398" r:id="rId16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eu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6747" autoAdjust="0"/>
  </p:normalViewPr>
  <p:slideViewPr>
    <p:cSldViewPr snapToGrid="0">
      <p:cViewPr varScale="1">
        <p:scale>
          <a:sx n="85" d="100"/>
          <a:sy n="85" d="100"/>
        </p:scale>
        <p:origin x="60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361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E7829D4B-412A-499A-8D4F-B904ADB5D0BE}" type="datetime1">
              <a:rPr lang="fr-FR" smtClean="0"/>
              <a:t>20/02/2026</a:t>
            </a:fld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E2C230DF-5933-439D-898F-38E9AC9BA688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8" name="Espace réservé de l’en-tête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CCE360E1-1F2F-4ECC-8A8D-37670FD54F5F}" type="datetime1">
              <a:rPr lang="fr-FR" smtClean="0"/>
              <a:t>20/02/2026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A89C7E07-3C67-C64C-8DA0-0404F630397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6248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30433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01610-A186-3A0C-23E3-8639A8E24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11ED1B49-8704-312D-668F-FBB7405FB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2DD4337B-0D5C-53E0-A992-19F716843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6CDFE6B-568E-790D-C6E2-CB8E4A6EB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72982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FE6EC-4C00-01DE-F833-E89CC9169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C783C983-5503-807C-5BC2-33BB73A7B1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E048462-D507-3A8D-3BD3-A5748D1FC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765E90-6AFD-5B67-3230-6126354D81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36705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Forme automatiqu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 spc="50" baseline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fr-FR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3" name="Espace réservé du numéro de diapositive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42" name="Espace réservé de la date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sec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’imag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fr-F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6" name="Espace réservé d’image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 dirty="0"/>
              <a:t>Cliquez sur l’icône pour ajouter une image</a:t>
            </a:r>
          </a:p>
        </p:txBody>
      </p: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e libre 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32" name="Titr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9436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Forme automatiqu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8" name="Forme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9" name="Forme libre 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fr-FR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fr-FR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fr-FR" sz="2000"/>
            </a:lvl3pPr>
            <a:lvl4pPr marL="1371600" indent="0">
              <a:spcBef>
                <a:spcPts val="1800"/>
              </a:spcBef>
              <a:buFont typeface="+mj-lt"/>
              <a:buNone/>
              <a:defRPr lang="fr-FR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endParaRPr lang="fr-FR" dirty="0"/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table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e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7" name="Forme libre 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457200" indent="0">
              <a:spcBef>
                <a:spcPts val="1800"/>
              </a:spcBef>
              <a:buNone/>
              <a:defRPr lang="fr-FR" sz="2000"/>
            </a:lvl2pPr>
            <a:lvl3pPr marL="914400" indent="0">
              <a:spcBef>
                <a:spcPts val="1800"/>
              </a:spcBef>
              <a:buNone/>
              <a:defRPr lang="fr-FR" sz="2000"/>
            </a:lvl3pPr>
            <a:lvl4pPr marL="1371600" indent="0">
              <a:spcBef>
                <a:spcPts val="1800"/>
              </a:spcBef>
              <a:buNone/>
              <a:defRPr lang="fr-FR" sz="2000"/>
            </a:lvl4pPr>
            <a:lvl5pPr marL="1828800" indent="0">
              <a:spcBef>
                <a:spcPts val="1800"/>
              </a:spcBef>
              <a:buNone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>
              <a:spcBef>
                <a:spcPts val="18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 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9" name="Espace réservé du tableau 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fr-FR"/>
            </a:lvl1pPr>
          </a:lstStyle>
          <a:p>
            <a:pPr rtl="0"/>
            <a:r>
              <a:rPr lang="fr-FR"/>
              <a:t>Cliquez sur l'icône pour ajouter un tableau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2" name="Espace réservé du titre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0" name="Espace réservé de la date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32" name="Espace réservé du numéro de diapositive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fr-FR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fr-FR">
          <a:solidFill>
            <a:schemeClr val="tx2"/>
          </a:solidFill>
        </a:defRPr>
      </a:lvl2pPr>
      <a:lvl3pPr eaLnBrk="1" hangingPunct="1">
        <a:defRPr lang="fr-FR">
          <a:solidFill>
            <a:schemeClr val="tx2"/>
          </a:solidFill>
        </a:defRPr>
      </a:lvl3pPr>
      <a:lvl4pPr eaLnBrk="1" hangingPunct="1">
        <a:defRPr lang="fr-FR">
          <a:solidFill>
            <a:schemeClr val="tx2"/>
          </a:solidFill>
        </a:defRPr>
      </a:lvl4pPr>
      <a:lvl5pPr eaLnBrk="1" hangingPunct="1">
        <a:defRPr lang="fr-FR">
          <a:solidFill>
            <a:schemeClr val="tx2"/>
          </a:solidFill>
        </a:defRPr>
      </a:lvl5pPr>
      <a:lvl6pPr eaLnBrk="1" hangingPunct="1">
        <a:defRPr lang="fr-FR">
          <a:solidFill>
            <a:schemeClr val="tx2"/>
          </a:solidFill>
        </a:defRPr>
      </a:lvl6pPr>
      <a:lvl7pPr eaLnBrk="1" hangingPunct="1">
        <a:defRPr lang="fr-FR">
          <a:solidFill>
            <a:schemeClr val="tx2"/>
          </a:solidFill>
        </a:defRPr>
      </a:lvl7pPr>
      <a:lvl8pPr eaLnBrk="1" hangingPunct="1">
        <a:defRPr lang="fr-FR">
          <a:solidFill>
            <a:schemeClr val="tx2"/>
          </a:solidFill>
        </a:defRPr>
      </a:lvl8pPr>
      <a:lvl9pPr eaLnBrk="1" hangingPunct="1">
        <a:defRPr lang="fr-FR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5785" y="908190"/>
            <a:ext cx="9956215" cy="1925321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b="0" dirty="0"/>
              <a:t>Système de Gestion des Demandes de Maintenance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C7534E2-56CC-B100-FC50-1C48FF0A75F6}"/>
              </a:ext>
            </a:extLst>
          </p:cNvPr>
          <p:cNvSpPr txBox="1"/>
          <p:nvPr/>
        </p:nvSpPr>
        <p:spPr>
          <a:xfrm>
            <a:off x="6231466" y="3028890"/>
            <a:ext cx="6445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Projet de Développement Logiciel Full-Stack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E8B1ADB-24CB-8A0D-4354-A0EE60DD2765}"/>
              </a:ext>
            </a:extLst>
          </p:cNvPr>
          <p:cNvSpPr txBox="1"/>
          <p:nvPr/>
        </p:nvSpPr>
        <p:spPr>
          <a:xfrm>
            <a:off x="8985956" y="4518644"/>
            <a:ext cx="3826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DIARY FITIA Jean Marc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5C35414-0783-B617-ED5F-D317EF3DCE3D}"/>
              </a:ext>
            </a:extLst>
          </p:cNvPr>
          <p:cNvSpPr txBox="1"/>
          <p:nvPr/>
        </p:nvSpPr>
        <p:spPr>
          <a:xfrm>
            <a:off x="9612487" y="4887976"/>
            <a:ext cx="1495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20/2/2026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Contexte et Objectifs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4049" y="3219928"/>
            <a:ext cx="11349919" cy="3709987"/>
          </a:xfrm>
        </p:spPr>
        <p:txBody>
          <a:bodyPr tIns="457200" rtlCol="0"/>
          <a:lstStyle>
            <a:defPPr>
              <a:defRPr lang="fr-FR"/>
            </a:defPPr>
          </a:lstStyle>
          <a:p>
            <a:r>
              <a:rPr lang="fr-FR" dirty="0"/>
              <a:t>Problématique :</a:t>
            </a:r>
            <a:r>
              <a:rPr lang="fr-FR" b="0" dirty="0"/>
              <a:t> </a:t>
            </a:r>
            <a:r>
              <a:rPr lang="fr-FR" b="0" dirty="0">
                <a:solidFill>
                  <a:schemeClr val="tx2">
                    <a:lumMod val="50000"/>
                  </a:schemeClr>
                </a:solidFill>
              </a:rPr>
              <a:t>Besoin de centraliser les incidents informatiques (perte de temps par email/téléphone).</a:t>
            </a:r>
          </a:p>
          <a:p>
            <a:r>
              <a:rPr lang="fr-FR" dirty="0"/>
              <a:t>Objectif :</a:t>
            </a:r>
            <a:r>
              <a:rPr lang="fr-FR" b="0" dirty="0"/>
              <a:t> </a:t>
            </a:r>
            <a:r>
              <a:rPr lang="fr-FR" b="0" dirty="0">
                <a:solidFill>
                  <a:schemeClr val="tx2">
                    <a:lumMod val="50000"/>
                  </a:schemeClr>
                </a:solidFill>
              </a:rPr>
              <a:t>Créer une application web simple pour signaler, suivre et résoudre les pannes.</a:t>
            </a:r>
          </a:p>
          <a:p>
            <a:r>
              <a:rPr lang="fr-FR" dirty="0"/>
              <a:t>Cible :</a:t>
            </a:r>
            <a:r>
              <a:rPr lang="fr-FR" b="0" dirty="0"/>
              <a:t> </a:t>
            </a:r>
            <a:r>
              <a:rPr lang="fr-FR" b="0" dirty="0">
                <a:solidFill>
                  <a:schemeClr val="tx2">
                    <a:lumMod val="50000"/>
                  </a:schemeClr>
                </a:solidFill>
              </a:rPr>
              <a:t>Entreprises, Universités.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56" y="278129"/>
            <a:ext cx="5187244" cy="2354026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Analyse des Besoins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F2E863-4A4C-76FE-444A-083F930433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1557" y="3279775"/>
            <a:ext cx="5187244" cy="2994025"/>
          </a:xfrm>
        </p:spPr>
        <p:txBody>
          <a:bodyPr rtlCol="0">
            <a:normAutofit lnSpcReduction="10000"/>
          </a:bodyPr>
          <a:lstStyle>
            <a:defPPr>
              <a:defRPr lang="fr-FR"/>
            </a:defPPr>
          </a:lstStyle>
          <a:p>
            <a:r>
              <a:rPr lang="fr-FR" b="1" dirty="0"/>
              <a:t>Utilisateurs :</a:t>
            </a:r>
            <a:r>
              <a:rPr lang="fr-FR" dirty="0"/>
              <a:t> Employés (création), Techniciens (résolution), Admins (gestion).</a:t>
            </a:r>
          </a:p>
          <a:p>
            <a:r>
              <a:rPr lang="fr-FR" b="1" dirty="0"/>
              <a:t>Fonctionnalités clés :</a:t>
            </a:r>
            <a:endParaRPr lang="fr-FR" dirty="0"/>
          </a:p>
          <a:p>
            <a:pPr lvl="1"/>
            <a:r>
              <a:rPr lang="fr-FR" dirty="0"/>
              <a:t>Système de tickets (CRUD).</a:t>
            </a:r>
          </a:p>
          <a:p>
            <a:pPr lvl="1"/>
            <a:r>
              <a:rPr lang="fr-FR" dirty="0"/>
              <a:t>Workflow de statuts (En attente -&gt; En cours -&gt; Résolu).</a:t>
            </a:r>
          </a:p>
          <a:p>
            <a:pPr lvl="1"/>
            <a:r>
              <a:rPr lang="fr-FR" dirty="0"/>
              <a:t>Gestion des rôles et sécurité.</a:t>
            </a:r>
          </a:p>
          <a:p>
            <a:pPr rtl="0"/>
            <a:endParaRPr lang="fr-FR" dirty="0"/>
          </a:p>
        </p:txBody>
      </p:sp>
      <p:pic>
        <p:nvPicPr>
          <p:cNvPr id="5" name="Espace réservé d’image 52" descr="Ampoules suspendues">
            <a:extLst>
              <a:ext uri="{FF2B5EF4-FFF2-40B4-BE49-F238E27FC236}">
                <a16:creationId xmlns:a16="http://schemas.microsoft.com/office/drawing/2014/main" id="{F2B2501C-600C-11B3-1ECD-912D988906A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r="16"/>
          <a:stretch/>
        </p:blipFill>
        <p:spPr>
          <a:xfrm>
            <a:off x="6096000" y="0"/>
            <a:ext cx="6118225" cy="6858000"/>
          </a:xfrm>
        </p:spPr>
      </p:pic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430529"/>
            <a:ext cx="5486400" cy="1815960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Architecture Technique</a:t>
            </a:r>
          </a:p>
        </p:txBody>
      </p:sp>
      <p:pic>
        <p:nvPicPr>
          <p:cNvPr id="12" name="Espace réservé d’image 4" descr="gros plan du grain de bois">
            <a:extLst>
              <a:ext uri="{FF2B5EF4-FFF2-40B4-BE49-F238E27FC236}">
                <a16:creationId xmlns:a16="http://schemas.microsoft.com/office/drawing/2014/main" id="{7D5BDB53-9169-3BBC-9362-0539514AC7D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1113"/>
            <a:ext cx="5791200" cy="6880226"/>
          </a:xfr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E02AE9C-BA1D-195E-3B93-A5A0CC03D8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9835" y="2965592"/>
            <a:ext cx="5486400" cy="1645920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Architecture :</a:t>
            </a:r>
            <a:r>
              <a:rPr lang="fr-FR" b="0" dirty="0"/>
              <a:t> </a:t>
            </a:r>
            <a:r>
              <a:rPr lang="fr-FR" b="0" dirty="0">
                <a:solidFill>
                  <a:schemeClr val="tx2">
                    <a:lumMod val="50000"/>
                  </a:schemeClr>
                </a:solidFill>
              </a:rPr>
              <a:t>MVC (Modèle - Vue - Contrôleur).</a:t>
            </a:r>
          </a:p>
          <a:p>
            <a:endParaRPr lang="fr-FR" b="0" dirty="0"/>
          </a:p>
          <a:p>
            <a:r>
              <a:rPr lang="fr-FR" dirty="0"/>
              <a:t>Backend :</a:t>
            </a:r>
            <a:r>
              <a:rPr lang="fr-FR" b="0" dirty="0"/>
              <a:t> </a:t>
            </a:r>
            <a:r>
              <a:rPr lang="fr-FR" b="0" dirty="0">
                <a:solidFill>
                  <a:schemeClr val="tx2">
                    <a:lumMod val="50000"/>
                  </a:schemeClr>
                </a:solidFill>
              </a:rPr>
              <a:t>Python avec le </a:t>
            </a:r>
            <a:r>
              <a:rPr lang="fr-FR" b="0" dirty="0" err="1">
                <a:solidFill>
                  <a:schemeClr val="tx2">
                    <a:lumMod val="50000"/>
                  </a:schemeClr>
                </a:solidFill>
              </a:rPr>
              <a:t>framework</a:t>
            </a:r>
            <a:r>
              <a:rPr lang="fr-FR" b="0" dirty="0">
                <a:solidFill>
                  <a:schemeClr val="tx2">
                    <a:lumMod val="50000"/>
                  </a:schemeClr>
                </a:solidFill>
              </a:rPr>
              <a:t> </a:t>
            </a:r>
            <a:r>
              <a:rPr lang="fr-FR" dirty="0">
                <a:solidFill>
                  <a:schemeClr val="tx2">
                    <a:lumMod val="50000"/>
                  </a:schemeClr>
                </a:solidFill>
              </a:rPr>
              <a:t>Flask</a:t>
            </a:r>
            <a:r>
              <a:rPr lang="fr-FR" b="0" dirty="0">
                <a:solidFill>
                  <a:schemeClr val="tx2">
                    <a:lumMod val="50000"/>
                  </a:schemeClr>
                </a:solidFill>
              </a:rPr>
              <a:t> (léger et flexible).</a:t>
            </a:r>
          </a:p>
          <a:p>
            <a:r>
              <a:rPr lang="fr-FR" dirty="0"/>
              <a:t>Base de données :</a:t>
            </a:r>
            <a:r>
              <a:rPr lang="fr-FR" b="0" dirty="0"/>
              <a:t> </a:t>
            </a:r>
            <a:r>
              <a:rPr lang="fr-FR" b="0" dirty="0">
                <a:solidFill>
                  <a:schemeClr val="tx2">
                    <a:lumMod val="50000"/>
                  </a:schemeClr>
                </a:solidFill>
              </a:rPr>
              <a:t>MySQL (via XAMPP) avec ORM </a:t>
            </a:r>
            <a:r>
              <a:rPr lang="fr-FR" b="0" dirty="0" err="1">
                <a:solidFill>
                  <a:schemeClr val="tx2">
                    <a:lumMod val="50000"/>
                  </a:schemeClr>
                </a:solidFill>
              </a:rPr>
              <a:t>SQLAlchemy</a:t>
            </a:r>
            <a:r>
              <a:rPr lang="fr-FR" b="0" dirty="0">
                <a:solidFill>
                  <a:schemeClr val="tx2">
                    <a:lumMod val="50000"/>
                  </a:schemeClr>
                </a:solidFill>
              </a:rPr>
              <a:t>.</a:t>
            </a:r>
          </a:p>
          <a:p>
            <a:r>
              <a:rPr lang="fr-FR" dirty="0"/>
              <a:t>Frontend :</a:t>
            </a:r>
            <a:r>
              <a:rPr lang="fr-FR" b="0" dirty="0"/>
              <a:t> </a:t>
            </a:r>
            <a:r>
              <a:rPr lang="fr-FR" b="0" dirty="0">
                <a:solidFill>
                  <a:schemeClr val="tx2">
                    <a:lumMod val="50000"/>
                  </a:schemeClr>
                </a:solidFill>
              </a:rPr>
              <a:t>HTML5, CSS3, </a:t>
            </a:r>
            <a:r>
              <a:rPr lang="fr-FR" dirty="0">
                <a:solidFill>
                  <a:schemeClr val="tx2">
                    <a:lumMod val="50000"/>
                  </a:schemeClr>
                </a:solidFill>
              </a:rPr>
              <a:t>Bootstrap 5</a:t>
            </a:r>
            <a:r>
              <a:rPr lang="fr-FR" b="0" dirty="0">
                <a:solidFill>
                  <a:schemeClr val="tx2">
                    <a:lumMod val="50000"/>
                  </a:schemeClr>
                </a:solidFill>
              </a:rPr>
              <a:t> (Responsive).</a:t>
            </a:r>
          </a:p>
        </p:txBody>
      </p:sp>
    </p:spTree>
    <p:extLst>
      <p:ext uri="{BB962C8B-B14F-4D97-AF65-F5344CB8AC3E}">
        <p14:creationId xmlns:p14="http://schemas.microsoft.com/office/powerpoint/2010/main" val="1440871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Modélisation de la Base de Données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03185" y="4580994"/>
            <a:ext cx="7810500" cy="1794051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r>
              <a:rPr lang="fr-FR" b="1" dirty="0"/>
              <a:t>Points forts :</a:t>
            </a:r>
            <a:endParaRPr lang="fr-FR" dirty="0"/>
          </a:p>
          <a:p>
            <a:pPr lvl="1"/>
            <a:r>
              <a:rPr lang="fr-FR" dirty="0"/>
              <a:t>Relations normalisées (Clés étrangères).</a:t>
            </a:r>
          </a:p>
          <a:p>
            <a:pPr lvl="1"/>
            <a:r>
              <a:rPr lang="fr-FR" dirty="0"/>
              <a:t>Séparation des tables de référence (Catégorie, Priorité, Statut).</a:t>
            </a:r>
          </a:p>
          <a:p>
            <a:pPr rtl="0"/>
            <a:endParaRPr lang="fr-FR" dirty="0"/>
          </a:p>
          <a:p>
            <a:pPr rtl="0"/>
            <a:endParaRPr lang="fr-FR" dirty="0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pic>
        <p:nvPicPr>
          <p:cNvPr id="4" name="Image 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B216DC79-4DD4-AD23-D0D8-C9D86928A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74" y="2391024"/>
            <a:ext cx="11364911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ce réservé d’image 10" descr="Gros plan d’une plante">
            <a:extLst>
              <a:ext uri="{FF2B5EF4-FFF2-40B4-BE49-F238E27FC236}">
                <a16:creationId xmlns:a16="http://schemas.microsoft.com/office/drawing/2014/main" id="{8DB431A1-9806-9CFE-0E5F-1A5611C2A66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" r="23"/>
          <a:stretch/>
        </p:blipFill>
        <p:spPr>
          <a:xfrm>
            <a:off x="0" y="0"/>
            <a:ext cx="12192000" cy="6880225"/>
          </a:xfr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9C37279A-330D-886F-340D-494A5005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307600"/>
            <a:ext cx="7139710" cy="1429023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Démonstration</a:t>
            </a:r>
          </a:p>
        </p:txBody>
      </p:sp>
    </p:spTree>
    <p:extLst>
      <p:ext uri="{BB962C8B-B14F-4D97-AF65-F5344CB8AC3E}">
        <p14:creationId xmlns:p14="http://schemas.microsoft.com/office/powerpoint/2010/main" val="2249372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b="0" dirty="0"/>
              <a:t>Page de Login</a:t>
            </a:r>
            <a:endParaRPr lang="fr-FR" dirty="0"/>
          </a:p>
        </p:txBody>
      </p:sp>
      <p:pic>
        <p:nvPicPr>
          <p:cNvPr id="10" name="Image 9" descr="Une image contenant texte, capture d’écran, logiciel, Système d’exploitation&#10;&#10;Le contenu généré par l’IA peut être incorrect.">
            <a:extLst>
              <a:ext uri="{FF2B5EF4-FFF2-40B4-BE49-F238E27FC236}">
                <a16:creationId xmlns:a16="http://schemas.microsoft.com/office/drawing/2014/main" id="{7B6A2779-B5CD-6101-7676-66A42E02A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271" y="2460978"/>
            <a:ext cx="8242454" cy="394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D46BA-C3A2-1374-DE04-649DCE513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C3D5AA-7BB4-AD0B-FD83-39A7EE63D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b="0" dirty="0"/>
              <a:t>Tableau de bord avec les badges de couleur</a:t>
            </a:r>
            <a:endParaRPr lang="fr-FR" dirty="0"/>
          </a:p>
        </p:txBody>
      </p:sp>
      <p:pic>
        <p:nvPicPr>
          <p:cNvPr id="4" name="Image 3" descr="Une image contenant texte, logiciel, Page web, Police&#10;&#10;Le contenu généré par l’IA peut être incorrect.">
            <a:extLst>
              <a:ext uri="{FF2B5EF4-FFF2-40B4-BE49-F238E27FC236}">
                <a16:creationId xmlns:a16="http://schemas.microsoft.com/office/drawing/2014/main" id="{0CF0259F-892B-917E-2517-BD4ED7AEC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00705"/>
            <a:ext cx="10877554" cy="334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785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34E9E-77F7-E4FB-170E-BD858BE09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85757D-CD08-6251-B39D-5CAB1B0C6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b="0" dirty="0"/>
              <a:t>Interface Admin de gestion des utilisateurs</a:t>
            </a:r>
            <a:endParaRPr lang="fr-FR" dirty="0"/>
          </a:p>
        </p:txBody>
      </p:sp>
      <p:pic>
        <p:nvPicPr>
          <p:cNvPr id="4" name="Image 3" descr="Une image contenant texte, logiciel, Icône d’ordinateur, Page web&#10;&#10;Le contenu généré par l’IA peut être incorrect.">
            <a:extLst>
              <a:ext uri="{FF2B5EF4-FFF2-40B4-BE49-F238E27FC236}">
                <a16:creationId xmlns:a16="http://schemas.microsoft.com/office/drawing/2014/main" id="{B2E8F71C-1596-60B1-4BE2-6A5DF92BB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616183"/>
            <a:ext cx="11038944" cy="379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287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8937567" cy="1574317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Difficultés et Solutions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96FB3A-B62C-3DAB-4FD1-B4EBDD650A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2" y="2676525"/>
            <a:ext cx="6764833" cy="1127831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r>
              <a:rPr lang="fr-FR" b="1" dirty="0"/>
              <a:t>Difficulté 1 :</a:t>
            </a:r>
            <a:r>
              <a:rPr lang="fr-FR" dirty="0"/>
              <a:t> Configuration de XAMPP (Port 80 bloqué).</a:t>
            </a:r>
          </a:p>
          <a:p>
            <a:pPr lvl="1"/>
            <a:r>
              <a:rPr lang="fr-FR" i="1" dirty="0"/>
              <a:t>Solution :</a:t>
            </a:r>
            <a:r>
              <a:rPr lang="fr-FR" dirty="0"/>
              <a:t> Changement du port Apache vers 8080.</a:t>
            </a:r>
          </a:p>
          <a:p>
            <a:pPr lvl="1" rtl="0"/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3E198AA-251D-4446-30C4-8F2FA7F6A72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4360" y="4100284"/>
            <a:ext cx="6976532" cy="3597470"/>
          </a:xfrm>
        </p:spPr>
        <p:txBody>
          <a:bodyPr rtlCol="0"/>
          <a:lstStyle>
            <a:defPPr>
              <a:defRPr lang="fr-FR"/>
            </a:defPPr>
          </a:lstStyle>
          <a:p>
            <a:pPr marL="0" indent="0">
              <a:buNone/>
            </a:pPr>
            <a:r>
              <a:rPr lang="fr-FR" b="1" dirty="0"/>
              <a:t>Difficulté 2 :</a:t>
            </a:r>
            <a:r>
              <a:rPr lang="fr-FR" dirty="0"/>
              <a:t> Gestion des droits (Empêcher un étudiant de voir les tickets des autres).</a:t>
            </a:r>
          </a:p>
          <a:p>
            <a:pPr lvl="1"/>
            <a:r>
              <a:rPr lang="fr-FR" i="1" dirty="0"/>
              <a:t>Solution :</a:t>
            </a:r>
            <a:r>
              <a:rPr lang="fr-FR" dirty="0"/>
              <a:t> Utilisation de décorateurs Python @login_required et filtres </a:t>
            </a:r>
            <a:r>
              <a:rPr lang="fr-FR" dirty="0" err="1"/>
              <a:t>SQLAlchemy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884" y="3499667"/>
            <a:ext cx="5278755" cy="1952866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Conclusion et Perspectives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599B60-BF79-A832-6AD4-6C6FC6CE431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7604" y="1566333"/>
            <a:ext cx="5425513" cy="3725334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r>
              <a:rPr lang="fr-FR" b="1" dirty="0"/>
              <a:t>Bilan :</a:t>
            </a:r>
            <a:r>
              <a:rPr lang="fr-FR" dirty="0"/>
              <a:t> Application fonctionnelle respectant le cahier des charges.</a:t>
            </a:r>
          </a:p>
          <a:p>
            <a:endParaRPr lang="fr-FR" dirty="0"/>
          </a:p>
          <a:p>
            <a:r>
              <a:rPr lang="fr-FR" b="1" dirty="0"/>
              <a:t>Améliorations futures :</a:t>
            </a:r>
            <a:endParaRPr lang="fr-FR" dirty="0"/>
          </a:p>
          <a:p>
            <a:pPr lvl="1"/>
            <a:r>
              <a:rPr lang="fr-FR" dirty="0"/>
              <a:t>Notifications par email réelles.</a:t>
            </a:r>
          </a:p>
          <a:p>
            <a:pPr lvl="1"/>
            <a:r>
              <a:rPr lang="fr-FR" dirty="0" err="1"/>
              <a:t>Upload</a:t>
            </a:r>
            <a:r>
              <a:rPr lang="fr-FR" dirty="0"/>
              <a:t> de fichiers (captures d'écran de l'erreur).</a:t>
            </a:r>
          </a:p>
          <a:p>
            <a:pPr lvl="1"/>
            <a:r>
              <a:rPr lang="fr-FR" dirty="0"/>
              <a:t>Statistiques graphiques (Camemberts).</a:t>
            </a:r>
          </a:p>
        </p:txBody>
      </p:sp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Merci de votre attention.</a:t>
            </a: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2_TF78853419_Win32" id="{E939D1AD-245E-4113-B88E-E20D599B2C52}" vid="{B269D645-ADA9-4C84-B6E4-2BDC65D07C9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{6CE70826-A5A6-4C68-A0EB-4C1E7B1B0ADC}TFd3b75063-ff25-434d-b12c-efeaf07d16c3843f2ce2_win32-4817930b7c4d</Template>
  <TotalTime>54</TotalTime>
  <Words>303</Words>
  <Application>Microsoft Office PowerPoint</Application>
  <PresentationFormat>Grand écran</PresentationFormat>
  <Paragraphs>53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Franklin Gothic Book</vt:lpstr>
      <vt:lpstr>Franklin Gothic Demi</vt:lpstr>
      <vt:lpstr>Personnalisé</vt:lpstr>
      <vt:lpstr>Système de Gestion des Demandes de Maintenance</vt:lpstr>
      <vt:lpstr>Contexte et Objectifs</vt:lpstr>
      <vt:lpstr>Analyse des Besoins</vt:lpstr>
      <vt:lpstr>Architecture Technique</vt:lpstr>
      <vt:lpstr>Modélisation de la Base de Données</vt:lpstr>
      <vt:lpstr>Démonstration</vt:lpstr>
      <vt:lpstr>Page de Login</vt:lpstr>
      <vt:lpstr>Tableau de bord avec les badges de couleur</vt:lpstr>
      <vt:lpstr>Interface Admin de gestion des utilisateurs</vt:lpstr>
      <vt:lpstr>Difficultés et Solutions</vt:lpstr>
      <vt:lpstr>Conclusion et Perspectives</vt:lpstr>
      <vt:lpstr>Merci de votre attention.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 Marc Diary Fitia</dc:creator>
  <cp:lastModifiedBy>Jean Marc Diary Fitia</cp:lastModifiedBy>
  <cp:revision>1</cp:revision>
  <dcterms:created xsi:type="dcterms:W3CDTF">2026-02-20T09:25:10Z</dcterms:created>
  <dcterms:modified xsi:type="dcterms:W3CDTF">2026-02-20T10:19:18Z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